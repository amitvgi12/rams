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685800" y="2520000"/>
            <a:ext cx="1700000" cy="60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85800" y="1500000"/>
            <a:ext cx="10820400" cy="100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+mj-lt"/>
              </a:rPr>
              <a:t>RAMS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2700000"/>
            <a:ext cx="10820400" cy="1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2000" dirty="0">
                <a:solidFill>
                  <a:srgbClr val="D7E2EC"/>
                </a:solidFill>
                <a:latin typeface="+mn-lt"/>
              </a:rPr>
              <a:t>Road Asset Management System — Indian pavement deterioration, remaining-life &amp; investment-planning engine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85800" y="6180000"/>
            <a:ext cx="108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100" dirty="0">
                <a:solidFill>
                  <a:srgbClr val="9FB2C2"/>
                </a:solidFill>
                <a:latin typeface="+mn-lt"/>
              </a:rPr>
              <a:t>Standards: IRC:37-2018 / IRC:115 / IRC:82 / IRC:81   ·   HDM-4   ·   MoRTH Standard Data 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The problem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Highway agencies must decide WHAT to fix, WHEN, and at WHAT cost — across thousands of km.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Field data (NSV condition, FWD deflection, traffic) arrives in many vendor formats.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Decisions must follow Indian codes (IRC) and be defensible to auditors and concession terms.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Generic foreign tools don't speak IRC:37 / IRC:115 / IRC:82 or MoRTH rates.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What RAMS does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Designs new pavements (IRC:37-2018) and checks them mechanistically (IITPAVE-style).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Ingests real field surveys (CSV / XLSX / PDF) and builds homogeneous sections.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Forecasts deterioration (rut, cracking, roughness, PCI) and remaining structural life.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Plans investment: life-cycle analysis, network budget optimisation, and PBMC pricing.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Every cost is grounded in the MoRTH Standard Data Book; every rule cites its IRC clause.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Standards &amp; methods built in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IRC:37-2018 — flexible pavement design (CBR → layer thicknesses; fatigue &amp; rutting).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IRC:115-2014 — FWD back-calculated moduli → remaining life → overlay need.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IRC:82 / IRC:81 — pavement condition index (PCI) and deflection-based residual life.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HDM-4 — calibrated rut / roughness / cracking / skid / pothole progression.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MoRTH Standard Data Book — treatment unit rates for all costing.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The workflow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1. DESIGN — size the pavement for the design traffic before any field data.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2. FIELD DATA — load NSV / FWD surveys; auto-section the network.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3. FORECAST — project condition, triggers and remaining life per section.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4. INVEST — life-cycle analysis, budget optimisation, and 5–7 yr PBMC pricing.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1 — IRC:37 design + IITPAVE check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CBR + design traffic (MSA, or CVPD × VDF) → BC / DBM / WMM / GSB thicknesses.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Catalogue method, or a least-cost mechanistic section sized by Odemark–Boussinesq.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To-scale cross-section diagram plus a fatigue/rutting strain check.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Calibrated to IRC:37 Annex II worked examples and published FWD reports (~±5–10%).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2 — field-data ingestion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Reads CSV, XLSX (multi-sheet, merged headers) and text PDFs — any vendor template.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Column names auto-matched; missing fields fall back to documented defaults.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Multi-file merge of separate rut / crack / roughness / pothole surveys by chainage.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One upload is shared across every tab — no re-uploading.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3 — forecasting &amp; homogeneous sections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Cumulative-difference sectioning (IRC:115) turns 100 m points into uniform sections.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Per-section condition, treatment band and preventive window, in a paginated table.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Untreated-vs-managed PCI trajectory with IRC intervention triggers.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Download forecast reports as XLSX or PDF.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4 — FWD remaining life &amp; overlay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15th-percentile back-calculated moduli + crust → remaining fatigue/rutting life.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Flags sections needing an overlay for the design traffic.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Screening-grade; borderline sections marked to confirm with full IITPAVE.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Upload the FWD report directly (CSV / XLSX / PDF); optional columns default.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5 — life-cycle analysis &amp; MoRTH costing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Year-by-year decision matrix: ROUTINE → PREVENTIVE → OVERLAY → RECONSTRUCTION.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Triggers from PCI / rut / cracking / roughness thresholds, with condition reset.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Costs from MoRTH SDB rates × carriageway area; reports total, NPV and EUAC.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All rates and thresholds are editable data, not hard-coded logic.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6 — network budget optimisation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Greedy multi-year allocation of a fixed annual budget across the network.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Prioritises busiest corridors and tightest preventive windows.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Reports funded vs unfunded, avoided structural cost, and spend-by-year.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Recommends the budget that clears the backlog — turns a warning into a decision.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Module 7 — PBMC contract pricing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Prices a 5–7 year Performance-Based Maintenance Contract to hold a service level.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Routine + periodic + initial rectification, with escalation, contingency, overhead.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Per-year cash flow, contract value, cost per km and NPV.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Performance check against the minimum PCI service level.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Outputs &amp; reporting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Interactive dashboard with charts, colour-coded decision tables and pagination.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Download sections, LCA matrices and forecasts as XLSX and PDF.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Self-contained, offline HTML reports — open on an air-gapped workstation, email as one file.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Why RAMS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India-first: speaks IRC and MoRTH out of the box — credible to agencies and auditors.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Zero third-party dependencies — installs and runs anywhere, fully offline.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Transparent &amp; auditable: every number traces to a code clause or an editable rate.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Validated against IRC worked examples and real field reports.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685800" y="520000"/>
            <a:ext cx="470000" cy="66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685800" y="560000"/>
            <a:ext cx="10820400" cy="76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3000" b="1" dirty="0">
                <a:solidFill>
                  <a:srgbClr val="1F3B57"/>
                </a:solidFill>
                <a:latin typeface="+mj-lt"/>
              </a:rPr>
              <a:t>Caveats &amp; roadmap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380000"/>
            <a:ext cx="10820400" cy="1270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156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Mechanistic strains are screening-grade (Odemark–Boussinesq) — confirm borderline with IITPAVE.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MoRTH rates are indicative — load the current SDB / State SoR before tendering.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Calibration needs repeat surveys; a single snapshot feeds forecasting, not rate-fitting.</a:t>
            </a:r>
          </a:p>
          <a:p>
            <a:pPr marL="285750" lvl="0" indent="-285750">
              <a:spcBef>
                <a:spcPts val="900"/>
              </a:spcBef>
              <a:buClr>
                <a:srgbClr val="F0A000"/>
              </a:buClr>
              <a:buSzPct val="90000"/>
              <a:buFont typeface="Arial"/>
              <a:buChar char="▪"/>
            </a:pPr>
            <a:r>
              <a:rPr lang="en-US" sz="1800" dirty="0">
                <a:solidFill>
                  <a:srgbClr val="2A3640"/>
                </a:solidFill>
                <a:latin typeface="+mn-lt"/>
              </a:rPr>
              <a:t>Roadmap: full IITPAVE coupling, GIS map view, multi-year survey calibration.</a:t>
            </a:r>
          </a:p>
        </p:txBody>
      </p:sp>
      <p:sp>
        <p:nvSpPr>
          <p:cNvPr id="6" name="r6"/>
          <p:cNvSpPr/>
          <p:nvPr/>
        </p:nvSpPr>
        <p:spPr>
          <a:xfrm>
            <a:off x="685800" y="6430000"/>
            <a:ext cx="10820400" cy="9525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6858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1000" dirty="0">
                <a:solidFill>
                  <a:srgbClr val="8493A0"/>
                </a:solidFill>
                <a:latin typeface="+mn-lt"/>
              </a:rPr>
              <a:t>RAMS — Road Asset Management System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096000" y="6470000"/>
            <a:ext cx="5410200" cy="32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r"/>
            <a:r>
              <a:rPr lang="en-US" sz="1000" dirty="0">
                <a:solidFill>
                  <a:srgbClr val="8493A0"/>
                </a:solidFill>
                <a:latin typeface="+mn-lt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685800" y="2520000"/>
            <a:ext cx="1700000" cy="60000"/>
          </a:xfrm>
          <a:prstGeom prst="rect">
            <a:avLst/>
          </a:prstGeom>
          <a:solidFill>
            <a:srgbClr val="F0A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85800" y="1500000"/>
            <a:ext cx="10820400" cy="100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85800" y="2700000"/>
            <a:ext cx="10820400" cy="1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en-US" sz="2000" dirty="0">
                <a:solidFill>
                  <a:srgbClr val="D7E2EC"/>
                </a:solidFill>
                <a:latin typeface="+mn-lt"/>
              </a:rPr>
              <a:t>RAMS — defensible, India-specific pavement asset management.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MS">
  <a:themeElements>
    <a:clrScheme name="RAMS">
      <a:dk1>
        <a:sysClr val="windowText" lastClr="000000"/>
      </a:dk1>
      <a:lt1>
        <a:sysClr val="window" lastClr="FFFFFF"/>
      </a:lt1>
      <a:dk2>
        <a:srgbClr val="1F3B57"/>
      </a:dk2>
      <a:lt2>
        <a:srgbClr val="EEF2F6"/>
      </a:lt2>
      <a:accent1>
        <a:srgbClr val="1F3B57"/>
      </a:accent1>
      <a:accent2>
        <a:srgbClr val="F0A000"/>
      </a:accent2>
      <a:accent3>
        <a:srgbClr val="1A9850"/>
      </a:accent3>
      <a:accent4>
        <a:srgbClr val="C0504D"/>
      </a:accent4>
      <a:accent5>
        <a:srgbClr val="4BACC6"/>
      </a:accent5>
      <a:accent6>
        <a:srgbClr val="F79646"/>
      </a:accent6>
      <a:hlink>
        <a:srgbClr val="1F3B57"/>
      </a:hlink>
      <a:folHlink>
        <a:srgbClr val="800080"/>
      </a:folHlink>
    </a:clrScheme>
    <a:fontScheme name="RAM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M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